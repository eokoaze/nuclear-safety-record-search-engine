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4426c6a4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4426c6a4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54426c6a4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4426c6a4_2_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54426c6a4_2_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54426c6a4_2_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4426c6a4_2_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54426c6a4_2_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54426c6a4_2_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4426c6a4_2_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54426c6a4_2_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54426c6a4_2_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 rot="1800000">
            <a:off x="6858000" y="791414"/>
            <a:ext cx="1783080" cy="748894"/>
          </a:xfrm>
          <a:prstGeom prst="ellipse">
            <a:avLst/>
          </a:prstGeom>
          <a:noFill/>
          <a:ln cap="flat" cmpd="sng" w="1905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 rot="3600000">
            <a:off x="7080885" y="885025"/>
            <a:ext cx="1337310" cy="561671"/>
          </a:xfrm>
          <a:prstGeom prst="ellipse">
            <a:avLst/>
          </a:prstGeom>
          <a:noFill/>
          <a:ln cap="flat" cmpd="sng" w="19050">
            <a:solidFill>
              <a:srgbClr val="0F6E7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 rot="5400000">
            <a:off x="7303770" y="978637"/>
            <a:ext cx="891540" cy="374446"/>
          </a:xfrm>
          <a:prstGeom prst="ellipse">
            <a:avLst/>
          </a:prstGeom>
          <a:noFill/>
          <a:ln cap="flat" cmpd="sng" w="19050">
            <a:solidFill>
              <a:srgbClr val="0F6E7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667244" y="1083564"/>
            <a:ext cx="164592" cy="164592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480050" y="1657413"/>
            <a:ext cx="7269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Designing a Machine Learning Search Engine for Nuclear Safety Record Searches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15"/>
          <p:cNvCxnSpPr/>
          <p:nvPr/>
        </p:nvCxnSpPr>
        <p:spPr>
          <a:xfrm>
            <a:off x="480060" y="2633546"/>
            <a:ext cx="754500" cy="0"/>
          </a:xfrm>
          <a:prstGeom prst="straightConnector1">
            <a:avLst/>
          </a:prstGeom>
          <a:noFill/>
          <a:ln cap="flat" cmpd="sng" w="38100">
            <a:solidFill>
              <a:srgbClr val="0F6E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/>
          <p:nvPr/>
        </p:nvSpPr>
        <p:spPr>
          <a:xfrm>
            <a:off x="480060" y="2913802"/>
            <a:ext cx="630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MSc. </a:t>
            </a:r>
            <a:r>
              <a:rPr i="1" lang="en" sz="11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Dissertation:</a:t>
            </a:r>
            <a:r>
              <a:rPr i="1" lang="en" sz="11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School of </a:t>
            </a:r>
            <a:r>
              <a:rPr i="1" lang="en" sz="11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r>
              <a:rPr i="1" lang="en" sz="11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Science and Engineering, Bangor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80060" y="4062703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Amritha Usha Kumari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0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DA0BE"/>
                </a:solidFill>
                <a:latin typeface="Calibri"/>
                <a:ea typeface="Calibri"/>
                <a:cs typeface="Calibri"/>
                <a:sym typeface="Calibri"/>
              </a:rPr>
              <a:t>Student ID: 500779663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411480" y="466344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6223A"/>
                </a:solidFill>
                <a:latin typeface="Cambria"/>
                <a:ea typeface="Cambria"/>
                <a:cs typeface="Cambria"/>
                <a:sym typeface="Cambria"/>
              </a:rPr>
              <a:t>Project </a:t>
            </a:r>
            <a:r>
              <a:rPr b="1" i="0" lang="en" sz="2300" u="none" cap="none" strike="noStrike">
                <a:solidFill>
                  <a:srgbClr val="16223A"/>
                </a:solidFill>
                <a:latin typeface="Cambria"/>
                <a:ea typeface="Cambria"/>
                <a:cs typeface="Cambria"/>
                <a:sym typeface="Cambria"/>
              </a:rPr>
              <a:t>Aims &amp; Objectives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11475" y="1063000"/>
            <a:ext cx="3120300" cy="3577200"/>
          </a:xfrm>
          <a:prstGeom prst="roundRect">
            <a:avLst>
              <a:gd fmla="val 2198" name="adj"/>
            </a:avLst>
          </a:prstGeom>
          <a:solidFill>
            <a:srgbClr val="0B1E36"/>
          </a:solidFill>
          <a:ln>
            <a:noFill/>
          </a:ln>
          <a:effectLst>
            <a:outerShdw blurRad="101600" rotWithShape="0" algn="bl" dir="5400000" dist="38100">
              <a:srgbClr val="1B2A44">
                <a:alpha val="3490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651510" y="130302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.png"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39217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1165860" y="135788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PROJECT AIM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51510" y="1748790"/>
            <a:ext cx="267462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develop a 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that retrieves relevant nuclear incident reports from natural-language queries and surfaces recurring failure patterns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making decades of nuclear safety records genuinely searchable by the public and analysts alike.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651510" y="3214379"/>
            <a:ext cx="2674500" cy="0"/>
          </a:xfrm>
          <a:prstGeom prst="straightConnector1">
            <a:avLst/>
          </a:prstGeom>
          <a:noFill/>
          <a:ln cap="flat" cmpd="sng" w="12700">
            <a:solidFill>
              <a:srgbClr val="2B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6"/>
          <p:cNvSpPr/>
          <p:nvPr/>
        </p:nvSpPr>
        <p:spPr>
          <a:xfrm>
            <a:off x="651510" y="3430233"/>
            <a:ext cx="2674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br>
              <a:rPr b="1" i="0" lang="en" sz="9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5E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9D5E8"/>
                </a:solidFill>
                <a:latin typeface="Calibri"/>
                <a:ea typeface="Calibri"/>
                <a:cs typeface="Calibri"/>
                <a:sym typeface="Calibri"/>
              </a:rPr>
              <a:t>Public nuclear safety data is vast, technical, and fragmented across agencies</a:t>
            </a:r>
            <a:r>
              <a:rPr lang="en" sz="900">
                <a:solidFill>
                  <a:srgbClr val="C9D5E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900" u="none" cap="none" strike="noStrike">
                <a:solidFill>
                  <a:srgbClr val="C9D5E8"/>
                </a:solidFill>
                <a:latin typeface="Calibri"/>
                <a:ea typeface="Calibri"/>
                <a:cs typeface="Calibri"/>
                <a:sym typeface="Calibri"/>
              </a:rPr>
              <a:t> a plain-English search closes the gap between raw records and public understanding.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737610" y="1062990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6764" y="11521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4183380" y="1042416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Curate the corpus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183380" y="1289304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Collect nuclear incident report datasets from public regulatory sources (IAEA, NRC, INES).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412230" y="1062990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.png" id="83" name="Google Shape;8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1384" y="11521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6858000" y="1042416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Baseline lexical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858000" y="1289304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Build a TF-IDF and cosine-similarity retrieval system as the performance floor.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737610" y="2311146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.png" id="87" name="Google Shape;8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6764" y="24003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4183380" y="2290572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Semantic search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183380" y="2537460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Implement Sentence-BERT embeddings to understand plain-English queries.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412230" y="2311146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roject.png" id="91" name="Google Shape;9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1384" y="24003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6858000" y="2290572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Failure-pattern clustering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858000" y="2537460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Apply clustering techniques to reveal recurring incident themes.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737610" y="3559302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esktop.png" id="95" name="Google Shape;9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26764" y="364845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4183380" y="3538728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Public-facing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183380" y="3785616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Develop an accessible, web-based UI using Streamlit.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412230" y="3559302"/>
            <a:ext cx="342900" cy="342900"/>
          </a:xfrm>
          <a:prstGeom prst="ellipse">
            <a:avLst/>
          </a:prstGeom>
          <a:solidFill>
            <a:srgbClr val="0F6E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.png" id="99" name="Google Shape;9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1384" y="364845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6858000" y="3538728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Rigorous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858000" y="3785616"/>
            <a:ext cx="216027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Measure search accuracy, relevance, and usability against baselines.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411480" y="466344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6223A"/>
                </a:solidFill>
                <a:latin typeface="Cambria"/>
                <a:ea typeface="Cambria"/>
                <a:cs typeface="Cambria"/>
                <a:sym typeface="Cambria"/>
              </a:rPr>
              <a:t>Progress So Far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11480" y="809244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Foundational research phase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11480" y="1268730"/>
            <a:ext cx="4046220" cy="20574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CE3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BE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51510" y="1508760"/>
            <a:ext cx="411480" cy="411480"/>
          </a:xfrm>
          <a:prstGeom prst="ellipse">
            <a:avLst/>
          </a:prstGeom>
          <a:solidFill>
            <a:srgbClr val="0B1E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ok.png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5979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165860" y="1556766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16223A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51500" y="2057400"/>
            <a:ext cx="35661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3350" lvl="0" marL="139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Surveyed existing search and information-retrieval systems for safety-critical, technical document collections.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970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Reviewed NLP approaches used in prior nuclear and industrial incident analysis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970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Compared lexical (TF-IDF) vs. semantic (transformer-based) retrieval methods for domain suitability.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800600" y="1268730"/>
            <a:ext cx="4046220" cy="20574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CE3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BE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040630" y="1508760"/>
            <a:ext cx="411480" cy="411480"/>
          </a:xfrm>
          <a:prstGeom prst="ellipse">
            <a:avLst/>
          </a:prstGeom>
          <a:solidFill>
            <a:srgbClr val="0B1E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rafting.png" id="116" name="Google Shape;1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784" y="15979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5554980" y="1556766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16223A"/>
                </a:solidFill>
                <a:latin typeface="Cambria"/>
                <a:ea typeface="Cambria"/>
                <a:cs typeface="Cambria"/>
                <a:sym typeface="Cambria"/>
              </a:rPr>
              <a:t>Research Design &amp;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040630" y="2057400"/>
            <a:ext cx="356616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3350" lvl="0" marL="139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Defined the end-to-end system architecture: ingestion → preprocessing → retrieval → clustering → interface.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970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Selected the technology stack: Python, Pandas, NLTK, Scikit-learn, Sentence-BERT, Streamlit.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970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16223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16223A"/>
                </a:solidFill>
                <a:latin typeface="Calibri"/>
                <a:ea typeface="Calibri"/>
                <a:cs typeface="Calibri"/>
                <a:sym typeface="Calibri"/>
              </a:rPr>
              <a:t>Drafted an evaluation methodology (precision/recall, usability testing) and a staged implementation timeline.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11480" y="3531870"/>
            <a:ext cx="8435340" cy="1062990"/>
          </a:xfrm>
          <a:prstGeom prst="roundRect">
            <a:avLst>
              <a:gd fmla="val 5806" name="adj"/>
            </a:avLst>
          </a:prstGeom>
          <a:solidFill>
            <a:srgbClr val="0B1E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651510" y="3778758"/>
            <a:ext cx="377190" cy="37719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664" y="386791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1165860" y="3723894"/>
            <a:ext cx="6995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Where this leaves us: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validated problem framing, an evidence-based architecture, and a concrete implementation plan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move from design into build.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11480" y="466344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What's Ahead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11480" y="809244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Implementation roadmap</a:t>
            </a:r>
            <a:r>
              <a:rPr i="1" lang="en" sz="10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1" lang="en" sz="10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from raw records to a working search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>
            <a:off x="651510" y="2434590"/>
            <a:ext cx="7818120" cy="0"/>
          </a:xfrm>
          <a:prstGeom prst="straightConnector1">
            <a:avLst/>
          </a:prstGeom>
          <a:noFill/>
          <a:ln cap="flat" cmpd="sng" w="25400">
            <a:solidFill>
              <a:srgbClr val="2B41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/>
          <p:nvPr/>
        </p:nvSpPr>
        <p:spPr>
          <a:xfrm>
            <a:off x="45948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5948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66344" y="137160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498" y="146075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68580" y="178308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 &amp; Study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8580" y="200939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Incident report datasets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76250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176250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769364" y="281178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oom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18" y="290093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1371600" y="346329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371600" y="368960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Clean &amp; structure text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065526" y="2242566"/>
            <a:ext cx="384048" cy="384048"/>
          </a:xfrm>
          <a:prstGeom prst="ellipse">
            <a:avLst/>
          </a:prstGeom>
          <a:solidFill>
            <a:srgbClr val="F2A900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06552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072384" y="137160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1538" y="146075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2674620" y="178308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2674620" y="200939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TF-IDF + Cosine Similarity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36854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36854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375404" y="281178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4558" y="290093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3977640" y="346329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977640" y="368960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Sentence-BERT embeddings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67156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67156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678424" y="137160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roject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7578" y="146075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5280660" y="178308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280660" y="200939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Identify incident themes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97458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697458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981444" y="281178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esktop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70598" y="290093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6583680" y="346329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583680" y="368960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Streamlit web app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277606" y="2242566"/>
            <a:ext cx="384048" cy="384048"/>
          </a:xfrm>
          <a:prstGeom prst="ellipse">
            <a:avLst/>
          </a:prstGeom>
          <a:solidFill>
            <a:srgbClr val="0F6E7A"/>
          </a:solidFill>
          <a:ln cap="flat" cmpd="sng" w="38100">
            <a:solidFill>
              <a:srgbClr val="0B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8277606" y="224256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B1E3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284464" y="1371600"/>
            <a:ext cx="370332" cy="37033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.png" id="170" name="Google Shape;17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3618" y="146075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7886700" y="1783080"/>
            <a:ext cx="1165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886700" y="2009394"/>
            <a:ext cx="11658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Accuracy &amp; usability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11480" y="4491990"/>
            <a:ext cx="8298180" cy="411480"/>
          </a:xfrm>
          <a:prstGeom prst="roundRect">
            <a:avLst>
              <a:gd fmla="val 1333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2930" y="449199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Next milestone: </a:t>
            </a:r>
            <a:r>
              <a:rPr b="0" i="0" lang="en" sz="900" u="none" cap="none" strike="noStrike">
                <a:solidFill>
                  <a:srgbClr val="D7E0E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" sz="900">
                <a:solidFill>
                  <a:srgbClr val="D7E0E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n" sz="900">
                <a:solidFill>
                  <a:srgbClr val="D7E0EF"/>
                </a:solidFill>
                <a:latin typeface="Calibri"/>
                <a:ea typeface="Calibri"/>
                <a:cs typeface="Calibri"/>
                <a:sym typeface="Calibri"/>
              </a:rPr>
              <a:t> diagram of a </a:t>
            </a:r>
            <a:r>
              <a:rPr b="0" i="0" lang="en" sz="900" u="none" cap="none" strike="noStrike">
                <a:solidFill>
                  <a:srgbClr val="D7E0EF"/>
                </a:solidFill>
                <a:latin typeface="Calibri"/>
                <a:ea typeface="Calibri"/>
                <a:cs typeface="Calibri"/>
                <a:sym typeface="Calibri"/>
              </a:rPr>
              <a:t>working TF-IDF baseline retrieval system, benchmarked against the semantic search approach.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